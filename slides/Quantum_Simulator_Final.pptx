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Presentation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Quantum Circuit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Background and motivation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What was done this semester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How it was implemented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Live app demonstration</a:t>
            </a:r>
          </a:p>
        </p:txBody>
      </p:sp>
      <p:pic>
        <p:nvPicPr>
          <p:cNvPr id="7" name="Picture 6" descr="bloch sphe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2373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BLOCH SPHERE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A. Background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Project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Need a local quantum simulator for teaching and experimentation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Many existing tools are either hard for beginners or too limited for deeper work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Wanted one interface for visual learning and technical analysis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Design target: no backend dependency, reproducible outputs, offline-ready</a:t>
            </a:r>
          </a:p>
        </p:txBody>
      </p:sp>
      <p:pic>
        <p:nvPicPr>
          <p:cNvPr id="7" name="Picture 6" descr="PH_01_APP_HERO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MAIN APPLICATION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A. Background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Project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Build circuits quickly with clear visual feedback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Run ideal and noisy simulations in the browser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Support export/import workflows for interoperability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Keep the UI simple first, then reveal advanced tools progressively</a:t>
            </a:r>
          </a:p>
        </p:txBody>
      </p:sp>
      <p:pic>
        <p:nvPicPr>
          <p:cNvPr id="7" name="Picture 6" descr="PH_03_ADVANCED_LAB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2639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ADVANCED SIMULATOR LAB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B. What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What Was 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1">
                <a:solidFill>
                  <a:srgbClr val="334155"/>
                </a:solidFill>
                <a:latin typeface="Plus Jakarta Sans"/>
              </a:defRPr>
            </a:pPr>
            <a:r>
              <a:t>Core Functionality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Drag-and-drop circuit editor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State-vector simulation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Shots and histogram views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Bloch and Dirac visualizations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Step-by-step execution support</a:t>
            </a:r>
          </a:p>
          <a:p>
            <a:pPr>
              <a:spcBef>
                <a:spcPts val="1200"/>
              </a:spcBef>
              <a:defRPr sz="2600" b="1">
                <a:solidFill>
                  <a:srgbClr val="334155"/>
                </a:solidFill>
                <a:latin typeface="Plus Jakarta Sans"/>
              </a:defRPr>
            </a:pPr>
            <a:r>
              <a:t>Advanced Functionality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Noisy simulation with configurable channels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Hardware compatibility and routing checks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Optimization and sweep tools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OpenQASM-lite import/export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Experiment save/load and report export</a:t>
            </a:r>
          </a:p>
        </p:txBody>
      </p:sp>
      <p:pic>
        <p:nvPicPr>
          <p:cNvPr id="7" name="Picture 6" descr="PH_02_CORE_EDITO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33028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CORE EDITOR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B. What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Evidence of Completed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App state persistence, draft management, and theme persistence are implemented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Simulator Lab includes calibration, mitigation, and optimization features</a:t>
            </a:r>
          </a:p>
        </p:txBody>
      </p:sp>
      <p:pic>
        <p:nvPicPr>
          <p:cNvPr id="7" name="Picture 6" descr="PH_04_TEST_EVIDENCE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3739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TERMINAL TEST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B. What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Scope and Honest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Current simulator limit is 6 qubits for browser practicality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OpenQASM support is intentionally a practical lite subset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Routing uses heuristic SWAP insertion, not globally optimal routing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Noise calibration uses a coarse 216-point parameter search</a:t>
            </a:r>
          </a:p>
        </p:txBody>
      </p:sp>
      <p:pic>
        <p:nvPicPr>
          <p:cNvPr id="7" name="Picture 6" descr="openqa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41820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OPENQASM AND REPORT EXPORT OUTPUTS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C. How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How It Was Built -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1">
                <a:solidFill>
                  <a:srgbClr val="334155"/>
                </a:solidFill>
                <a:latin typeface="Plus Jakarta Sans"/>
              </a:defRPr>
            </a:pPr>
            <a:r>
              <a:t>Technology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React + TypeScript + Vite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Recharts for chart rendering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PWA support for offline usage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Local-first storage model</a:t>
            </a:r>
          </a:p>
          <a:p>
            <a:pPr>
              <a:spcBef>
                <a:spcPts val="1200"/>
              </a:spcBef>
              <a:defRPr sz="2600" b="1">
                <a:solidFill>
                  <a:srgbClr val="334155"/>
                </a:solidFill>
                <a:latin typeface="Plus Jakarta Sans"/>
              </a:defRPr>
            </a:pPr>
            <a:r>
              <a:t>Code Structure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UI components for interaction and rendering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Hooks for shared state and persistence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Pure logic modules for simulation and analysis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Tests focused on logic correctness</a:t>
            </a:r>
          </a:p>
        </p:txBody>
      </p:sp>
      <p:pic>
        <p:nvPicPr>
          <p:cNvPr id="7" name="Picture 6" descr="PH_05_APP_STRUCTUR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9775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APPLICATION STRUCTURE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C. How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How It Was Built - Execution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Edit circuit in UI and validate placement/state inputs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Compile circuit plan and run simulation kernels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Sample outcomes (ideal and noisy paths)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Compute analysis metrics and render synchronized views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Use caching and alias sampling to keep interaction responsive</a:t>
            </a:r>
          </a:p>
        </p:txBody>
      </p:sp>
      <p:pic>
        <p:nvPicPr>
          <p:cNvPr id="7" name="Picture 6" descr="PH_06_EXECUTION_RESULTS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EXECUTION RESULTS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C. How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How It Was Built - Engineering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1">
                <a:solidFill>
                  <a:srgbClr val="334155"/>
                </a:solidFill>
                <a:latin typeface="Plus Jakarta Sans"/>
              </a:defRPr>
            </a:pPr>
            <a:r>
              <a:t>Choice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Local-first execution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Strict typing + tests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Progressive disclosure UI</a:t>
            </a:r>
          </a:p>
          <a:p>
            <a:pPr>
              <a:spcBef>
                <a:spcPts val="1200"/>
              </a:spcBef>
              <a:defRPr sz="2600" b="1">
                <a:solidFill>
                  <a:srgbClr val="334155"/>
                </a:solidFill>
                <a:latin typeface="Plus Jakarta Sans"/>
              </a:defRPr>
            </a:pPr>
            <a:r>
              <a:t>Reason and Tradeoff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Easy classroom/lab usage, with bounded qubit scale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Lower regression risk, with heuristic optimizers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Simple beginner flow, with lite interop scope</a:t>
            </a:r>
          </a:p>
        </p:txBody>
      </p:sp>
      <p:pic>
        <p:nvPicPr>
          <p:cNvPr id="7" name="Picture 6" descr="PH_08_NOI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22006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IDEAL VS NOISY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D. Demo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App Demonstration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01Load Bell template and explain the circuit editor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02Run ideal shots and inspect probability/histogram tabs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03Turn on noise and compare ideal vs noisy outcomes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04Open analysis panels and summarize key metrics</a:t>
            </a:r>
          </a:p>
        </p:txBody>
      </p:sp>
      <p:pic>
        <p:nvPicPr>
          <p:cNvPr id="7" name="Picture 6" descr="PH_07_BELL_IDEAL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35403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BELL CIRCUIT IDEAL 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D. Demo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Demo Continuation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05Run one Simulator Lab workflow (optimizer or sweep)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06Show hardware compatibility and routing feedback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07Export OpenQASM and report artifacts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08State current limits and expected future improvements</a:t>
            </a:r>
          </a:p>
        </p:txBody>
      </p:sp>
      <p:pic>
        <p:nvPicPr>
          <p:cNvPr id="7" name="Picture 6" descr="PH_09_SIMULATOR_LAB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98548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SIMULATOR LAB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Closing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Summary and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Background: local-first simulator for learning and technical workflows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What: editor, simulation, analysis, advanced lab, and interop implemented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How: modular architecture with test-backed logic core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Demo: end-to-end run from circuit creation to export</a:t>
            </a:r>
          </a:p>
        </p:txBody>
      </p:sp>
      <p:pic>
        <p:nvPicPr>
          <p:cNvPr id="7" name="Picture 6" descr="PH_06_EXECUTION_RESULTS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EXECUTION AND ANALYSIS OVERVIEW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Template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Empty Template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365760"/>
            <a:ext cx="1828800" cy="365760"/>
          </a:xfrm>
          <a:prstGeom prst="roundRect">
            <a:avLst/>
          </a:prstGeom>
          <a:solidFill>
            <a:srgbClr val="E8F2FA"/>
          </a:solidFill>
          <a:ln w="9525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81"/>
                </a:solidFill>
                <a:latin typeface="JetBrains Mono"/>
              </a:defRPr>
            </a:pPr>
            <a:r>
              <a:t>Style Guide</a:t>
            </a:r>
          </a:p>
        </p:txBody>
      </p:sp>
      <p:sp>
        <p:nvSpPr>
          <p:cNvPr id="3" name="Oval 2"/>
          <p:cNvSpPr/>
          <p:nvPr/>
        </p:nvSpPr>
        <p:spPr>
          <a:xfrm>
            <a:off x="5364327" y="512064"/>
            <a:ext cx="73152" cy="73152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365760"/>
            <a:ext cx="914400" cy="365760"/>
          </a:xfrm>
          <a:prstGeom prst="rect">
            <a:avLst/>
          </a:prstGeom>
          <a:solidFill>
            <a:srgbClr val="E8F2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4C81"/>
                </a:solidFill>
                <a:latin typeface="JetBrains Mono"/>
              </a:defRPr>
            </a:pPr>
            <a: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Plus Jakarta Sans"/>
              </a:defRPr>
            </a:pPr>
            <a:r>
              <a:t>Fonts, Colors, and PPTX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600" b="1">
                <a:solidFill>
                  <a:srgbClr val="334155"/>
                </a:solidFill>
                <a:latin typeface="Plus Jakarta Sans"/>
              </a:defRPr>
            </a:pPr>
            <a:r>
              <a:t>Typography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Headings: Plus Jakarta Sans, bold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Body: Plus Jakarta Sans, regular/medium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Code and labels: JetBrains Mono</a:t>
            </a:r>
          </a:p>
          <a:p>
            <a:pPr>
              <a:spcBef>
                <a:spcPts val="1200"/>
              </a:spcBef>
              <a:defRPr sz="2600" b="1">
                <a:solidFill>
                  <a:srgbClr val="334155"/>
                </a:solidFill>
                <a:latin typeface="Plus Jakarta Sans"/>
              </a:defRPr>
            </a:pPr>
            <a:r>
              <a:t>Color and Layout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Primary blue: #0F4C81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Background: white + soft blue gradients</a:t>
            </a:r>
          </a:p>
          <a:p>
            <a:pPr>
              <a:spcBef>
                <a:spcPts val="1200"/>
              </a:spcBef>
              <a:defRPr sz="2600" b="0">
                <a:solidFill>
                  <a:srgbClr val="334155"/>
                </a:solidFill>
                <a:latin typeface="Plus Jakarta Sans"/>
              </a:defRPr>
            </a:pPr>
            <a:r>
              <a:t>Use square corners and tight margins in PPTX</a:t>
            </a:r>
          </a:p>
        </p:txBody>
      </p:sp>
      <p:pic>
        <p:nvPicPr>
          <p:cNvPr id="7" name="Picture 6" descr="PH_01_APP_HERO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217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4155"/>
                </a:solidFill>
                <a:latin typeface="JetBrains Mono"/>
              </a:defRPr>
            </a:pPr>
            <a:r>
              <a:t>REFERENCE IMAGE FOR PRESENTATION STYLE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